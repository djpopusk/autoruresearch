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E2E8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6E2E8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6528" y="1005840"/>
            <a:ext cx="2560320" cy="1143000"/>
          </a:xfrm>
          <a:prstGeom prst="line">
            <a:avLst/>
          </a:prstGeom>
          <a:noFill/>
          <a:ln w="15240">
            <a:solidFill>
              <a:srgbClr val="C8D7D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1115568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07424" y="1298448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45168" y="1188720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82912" y="1481328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57232" y="1353312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31552" y="1600200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05872" y="1463040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0" y="1755648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91088" y="1627632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28832" y="1865376"/>
            <a:ext cx="54864" cy="54864"/>
          </a:xfrm>
          <a:prstGeom prst="ellipse">
            <a:avLst/>
          </a:prstGeom>
          <a:solidFill>
            <a:srgbClr val="B9CBD5">
              <a:alpha val="85000"/>
            </a:srgbClr>
          </a:solidFill>
          <a:ln w="12700">
            <a:solidFill>
              <a:srgbClr val="B9CBD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54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" y="1033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датасет Auto.ru для прогноза цены автомобиля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104120" y="502920"/>
            <a:ext cx="1051560" cy="310896"/>
          </a:xfrm>
          <a:prstGeom prst="rect">
            <a:avLst/>
          </a:prstGeom>
          <a:solidFill>
            <a:srgbClr val="E8F1F5"/>
          </a:solidFill>
          <a:ln>
            <a:solidFill>
              <a:srgbClr val="E8F1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14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курс ФКИ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94360" y="1627632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AD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18653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6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 парсера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22677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12 433</a:t>
            </a:r>
            <a:endParaRPr lang="en-US" sz="2900" dirty="0"/>
          </a:p>
        </p:txBody>
      </p:sp>
      <p:sp>
        <p:nvSpPr>
          <p:cNvPr id="21" name="Text 19"/>
          <p:cNvSpPr/>
          <p:nvPr/>
        </p:nvSpPr>
        <p:spPr>
          <a:xfrm>
            <a:off x="2331720" y="23682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машин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" y="2926080"/>
            <a:ext cx="2907792" cy="0"/>
          </a:xfrm>
          <a:prstGeom prst="line">
            <a:avLst/>
          </a:prstGeom>
          <a:noFill/>
          <a:ln w="12700">
            <a:solidFill>
              <a:srgbClr val="CADA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18211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700784" y="317296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признаков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исходной структуре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850392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Структура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50392" y="41879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числовые: возраст, пробег, двигатель, габариты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категории: топливо, КПП, привод, кузов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наблюдение: одно объявление авто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" y="52395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Ограничения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850392" y="55046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часть технических полей заполнена не полностью: минимальная заполненность в таблице — 88.9%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233672" y="1627632"/>
            <a:ext cx="4315968" cy="4315968"/>
          </a:xfrm>
          <a:prstGeom prst="roundRect">
            <a:avLst>
              <a:gd name="adj" fmla="val 1695"/>
            </a:avLst>
          </a:prstGeom>
          <a:solidFill>
            <a:srgbClr val="FBFCFD"/>
          </a:solidFill>
          <a:ln w="12700">
            <a:solidFill>
              <a:srgbClr val="CADA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8848" y="18653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6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Числовой профиль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98848" y="2148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средние значения и диапазоны по ключевым полям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498848" y="26151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Возраст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5989320" y="2615184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4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15.2 года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7360920" y="2615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7E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0–56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498848" y="2962656"/>
            <a:ext cx="3794760" cy="0"/>
          </a:xfrm>
          <a:prstGeom prst="line">
            <a:avLst/>
          </a:prstGeom>
          <a:noFill/>
          <a:ln w="8890">
            <a:solidFill>
              <a:srgbClr val="E4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8848" y="32369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Пробег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5989320" y="3236976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4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 тыс. км</a:t>
            </a:r>
            <a:endParaRPr lang="en-US" sz="1340" dirty="0"/>
          </a:p>
        </p:txBody>
      </p:sp>
      <p:sp>
        <p:nvSpPr>
          <p:cNvPr id="38" name="Text 36"/>
          <p:cNvSpPr/>
          <p:nvPr/>
        </p:nvSpPr>
        <p:spPr>
          <a:xfrm>
            <a:off x="7360920" y="3236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7E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0–1 млн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498848" y="3584448"/>
            <a:ext cx="3794760" cy="0"/>
          </a:xfrm>
          <a:prstGeom prst="line">
            <a:avLst/>
          </a:prstGeom>
          <a:noFill/>
          <a:ln w="8890">
            <a:solidFill>
              <a:srgbClr val="E4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38587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Мощность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5989320" y="3858768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4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166 л.с.</a:t>
            </a:r>
            <a:endParaRPr lang="en-US" sz="1340" dirty="0"/>
          </a:p>
        </p:txBody>
      </p:sp>
      <p:sp>
        <p:nvSpPr>
          <p:cNvPr id="42" name="Text 40"/>
          <p:cNvSpPr/>
          <p:nvPr/>
        </p:nvSpPr>
        <p:spPr>
          <a:xfrm>
            <a:off x="7360920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7E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27–797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498848" y="4206240"/>
            <a:ext cx="3794760" cy="0"/>
          </a:xfrm>
          <a:prstGeom prst="line">
            <a:avLst/>
          </a:prstGeom>
          <a:noFill/>
          <a:ln w="8890">
            <a:solidFill>
              <a:srgbClr val="E4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44805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Объём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5989320" y="4480560"/>
            <a:ext cx="1207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4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2.06 л</a:t>
            </a:r>
            <a:endParaRPr lang="en-US" sz="1340" dirty="0"/>
          </a:p>
        </p:txBody>
      </p:sp>
      <p:sp>
        <p:nvSpPr>
          <p:cNvPr id="46" name="Text 44"/>
          <p:cNvSpPr/>
          <p:nvPr/>
        </p:nvSpPr>
        <p:spPr>
          <a:xfrm>
            <a:off x="7360920" y="4480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7E8B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0.7–8.2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498848" y="4828032"/>
            <a:ext cx="3794760" cy="0"/>
          </a:xfrm>
          <a:prstGeom prst="line">
            <a:avLst/>
          </a:prstGeom>
          <a:noFill/>
          <a:ln w="8890">
            <a:solidFill>
              <a:srgbClr val="E4EC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98848" y="5257800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Заполненность числовых признаков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4498848" y="5532120"/>
            <a:ext cx="2926080" cy="164592"/>
          </a:xfrm>
          <a:prstGeom prst="roundRect">
            <a:avLst>
              <a:gd name="adj" fmla="val 16667"/>
            </a:avLst>
          </a:prstGeom>
          <a:solidFill>
            <a:srgbClr val="E5EDF1"/>
          </a:solidFill>
          <a:ln w="12700">
            <a:solidFill>
              <a:srgbClr val="E5EDF1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98848" y="5532120"/>
            <a:ext cx="2803185" cy="164592"/>
          </a:xfrm>
          <a:prstGeom prst="roundRect">
            <a:avLst>
              <a:gd name="adj" fmla="val 16667"/>
            </a:avLst>
          </a:prstGeom>
          <a:solidFill>
            <a:srgbClr val="506C7D"/>
          </a:solidFill>
          <a:ln w="12700">
            <a:solidFill>
              <a:srgbClr val="506C7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3800" y="547725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≈95.8%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8759952" y="2907792"/>
            <a:ext cx="2816352" cy="303580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ADA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15984" y="3145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06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Категории: топ-значения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015984" y="36027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Топливо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10021824" y="3630168"/>
            <a:ext cx="987552" cy="137160"/>
          </a:xfrm>
          <a:prstGeom prst="roundRect">
            <a:avLst>
              <a:gd name="adj" fmla="val 20000"/>
            </a:avLst>
          </a:prstGeom>
          <a:solidFill>
            <a:srgbClr val="E5EDF1"/>
          </a:solidFill>
          <a:ln w="12700">
            <a:solidFill>
              <a:srgbClr val="E5EDF1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21824" y="3630168"/>
            <a:ext cx="849295" cy="137160"/>
          </a:xfrm>
          <a:prstGeom prst="roundRect">
            <a:avLst>
              <a:gd name="adj" fmla="val 20000"/>
            </a:avLst>
          </a:prstGeom>
          <a:solidFill>
            <a:srgbClr val="8EAEC0"/>
          </a:solidFill>
          <a:ln w="12700">
            <a:solidFill>
              <a:srgbClr val="8EAEC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18520" y="3593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021824" y="38130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809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бензин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9015984" y="41879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КПП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10021824" y="4215384"/>
            <a:ext cx="987552" cy="137160"/>
          </a:xfrm>
          <a:prstGeom prst="roundRect">
            <a:avLst>
              <a:gd name="adj" fmla="val 20000"/>
            </a:avLst>
          </a:prstGeom>
          <a:solidFill>
            <a:srgbClr val="E5EDF1"/>
          </a:solidFill>
          <a:ln w="12700">
            <a:solidFill>
              <a:srgbClr val="E5EDF1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21824" y="4215384"/>
            <a:ext cx="434523" cy="137160"/>
          </a:xfrm>
          <a:prstGeom prst="roundRect">
            <a:avLst>
              <a:gd name="adj" fmla="val 20000"/>
            </a:avLst>
          </a:prstGeom>
          <a:solidFill>
            <a:srgbClr val="8EAEC0"/>
          </a:solidFill>
          <a:ln w="12700">
            <a:solidFill>
              <a:srgbClr val="8EAEC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18520" y="41788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021824" y="4398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809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9015984" y="47731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Привод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10021824" y="4800600"/>
            <a:ext cx="987552" cy="137160"/>
          </a:xfrm>
          <a:prstGeom prst="roundRect">
            <a:avLst>
              <a:gd name="adj" fmla="val 20000"/>
            </a:avLst>
          </a:prstGeom>
          <a:solidFill>
            <a:srgbClr val="E5EDF1"/>
          </a:solidFill>
          <a:ln w="12700">
            <a:solidFill>
              <a:srgbClr val="E5EDF1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021824" y="4800600"/>
            <a:ext cx="503652" cy="137160"/>
          </a:xfrm>
          <a:prstGeom prst="roundRect">
            <a:avLst>
              <a:gd name="adj" fmla="val 20000"/>
            </a:avLst>
          </a:prstGeom>
          <a:solidFill>
            <a:srgbClr val="8EAEC0"/>
          </a:solidFill>
          <a:ln w="12700">
            <a:solidFill>
              <a:srgbClr val="8EAEC0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18520" y="47640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0021824" y="498348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809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передний</a:t>
            </a:r>
            <a:endParaRPr lang="en-US" sz="760" dirty="0"/>
          </a:p>
        </p:txBody>
      </p:sp>
      <p:sp>
        <p:nvSpPr>
          <p:cNvPr id="69" name="Text 67"/>
          <p:cNvSpPr/>
          <p:nvPr/>
        </p:nvSpPr>
        <p:spPr>
          <a:xfrm>
            <a:off x="9015984" y="535838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1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Кузов</a:t>
            </a:r>
            <a:endParaRPr lang="en-US" sz="980" dirty="0"/>
          </a:p>
        </p:txBody>
      </p:sp>
      <p:sp>
        <p:nvSpPr>
          <p:cNvPr id="70" name="Shape 68"/>
          <p:cNvSpPr/>
          <p:nvPr/>
        </p:nvSpPr>
        <p:spPr>
          <a:xfrm>
            <a:off x="10021824" y="5385816"/>
            <a:ext cx="987552" cy="137160"/>
          </a:xfrm>
          <a:prstGeom prst="roundRect">
            <a:avLst>
              <a:gd name="adj" fmla="val 20000"/>
            </a:avLst>
          </a:prstGeom>
          <a:solidFill>
            <a:srgbClr val="E5EDF1"/>
          </a:solidFill>
          <a:ln w="12700">
            <a:solidFill>
              <a:srgbClr val="E5EDF1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21824" y="5385816"/>
            <a:ext cx="385145" cy="137160"/>
          </a:xfrm>
          <a:prstGeom prst="roundRect">
            <a:avLst>
              <a:gd name="adj" fmla="val 20000"/>
            </a:avLst>
          </a:prstGeom>
          <a:solidFill>
            <a:srgbClr val="8EAEC0"/>
          </a:solidFill>
          <a:ln w="12700">
            <a:solidFill>
              <a:srgbClr val="8EAEC0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018520" y="5349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39%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0021824" y="55686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8090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внедорожник · седан 34%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594360" y="6199632"/>
            <a:ext cx="11137392" cy="301752"/>
          </a:xfrm>
          <a:prstGeom prst="roundRect">
            <a:avLst>
              <a:gd name="adj" fmla="val 18182"/>
            </a:avLst>
          </a:prstGeom>
          <a:solidFill>
            <a:srgbClr val="E8F1F5"/>
          </a:solidFill>
          <a:ln w="10160">
            <a:solidFill>
              <a:srgbClr val="CADA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6112" y="6263640"/>
            <a:ext cx="10533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D5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Вывод: данные покрывают цену через возраст, пробег, двигатель и тип автомобиля — этого достаточно для базовой регрессии и дальнейшего улучшения модели.</a:t>
            </a:r>
            <a:endParaRPr lang="en-US" sz="9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Данные</dc:title>
  <dc:subject>Данные для модели линейной регрессии Auto.ru</dc:subject>
  <dc:creator>OpenAI</dc:creator>
  <cp:lastModifiedBy>OpenAI</cp:lastModifiedBy>
  <cp:revision>1</cp:revision>
  <dcterms:created xsi:type="dcterms:W3CDTF">2026-05-26T22:29:59Z</dcterms:created>
  <dcterms:modified xsi:type="dcterms:W3CDTF">2026-05-26T22:29:59Z</dcterms:modified>
</cp:coreProperties>
</file>